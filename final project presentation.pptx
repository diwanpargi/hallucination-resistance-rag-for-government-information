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3" r:id="rId2"/>
    <p:sldId id="274" r:id="rId3"/>
    <p:sldId id="275" r:id="rId4"/>
    <p:sldId id="278" r:id="rId5"/>
    <p:sldId id="269" r:id="rId6"/>
    <p:sldId id="260" r:id="rId7"/>
    <p:sldId id="284" r:id="rId8"/>
    <p:sldId id="285" r:id="rId9"/>
    <p:sldId id="271" r:id="rId10"/>
    <p:sldId id="287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an p" userId="0e9d44853e9ee2d8" providerId="LiveId" clId="{7B7462DD-78E7-4DBB-AD8A-0603F8D11B87}"/>
    <pc:docChg chg="modSld">
      <pc:chgData name="divan p" userId="0e9d44853e9ee2d8" providerId="LiveId" clId="{7B7462DD-78E7-4DBB-AD8A-0603F8D11B87}" dt="2026-11-01T19:03:22.614" v="2" actId="1076"/>
      <pc:docMkLst>
        <pc:docMk/>
      </pc:docMkLst>
      <pc:sldChg chg="modSp mod">
        <pc:chgData name="divan p" userId="0e9d44853e9ee2d8" providerId="LiveId" clId="{7B7462DD-78E7-4DBB-AD8A-0603F8D11B87}" dt="2026-11-01T19:03:22.614" v="2" actId="1076"/>
        <pc:sldMkLst>
          <pc:docMk/>
          <pc:sldMk cId="0" sldId="271"/>
        </pc:sldMkLst>
        <pc:spChg chg="mod">
          <ac:chgData name="divan p" userId="0e9d44853e9ee2d8" providerId="LiveId" clId="{7B7462DD-78E7-4DBB-AD8A-0603F8D11B87}" dt="2026-11-01T19:03:22.614" v="2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divan p" userId="0e9d44853e9ee2d8" providerId="LiveId" clId="{7B7462DD-78E7-4DBB-AD8A-0603F8D11B87}" dt="2026-11-01T19:03:13.657" v="1" actId="1076"/>
          <ac:spMkLst>
            <pc:docMk/>
            <pc:sldMk cId="0" sldId="271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D8970-B4CE-4B0D-96FA-19B547B3E2C1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A1A8E-0EC4-4B24-83A2-0CD4E0C0C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72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layers that together reduce, not eliminate,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hallucination is reduced, not eliminated.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3A86-BFAD-1848-C480-710433674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E2112-34F7-6476-5D91-0BB15D56B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9FA9B-5B9E-0E3A-BB5E-7833CC3A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1A268-D76A-CE11-2939-F549BEDE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F23AF-6E55-892B-BDB0-81ACEDF1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60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2EE4-C1C2-2629-67DE-E607F1AE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4041-6A92-9BB4-397F-7B766D81F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AEF1A-A6B2-FE0C-D0C8-49365D09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E4A1-7722-DF8F-47D4-A4981842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64CE-7A09-32E6-323B-7226B981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8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7197C-7AA4-07D2-6D67-C3717FCB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A1484-4D41-93D0-BEA1-1E654F345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5D6D3-1ADA-2E97-9770-B6A43FA1A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D5C5-3BE9-E618-576C-5C0648F9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63EA-5B1C-C175-B865-1BFA36D9D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999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5A1D-CDF5-C7AF-1220-D640CFBF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DE06D-2CDA-2CB9-C7D5-17FD9339F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BA8C0-6AEC-7C09-81C6-DBC27FDE0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8C0F6-5AD8-0606-EF2D-F0A919B7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A58DC-416F-A6C9-CF71-6045BF5F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67077-35EE-F392-D5F0-75D146A1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86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B4D3-F97C-EC52-4996-BDE6F6855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74FAF-7C29-FEFD-4B9E-48506C6AD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CE82A-DD04-38ED-6743-1902A1F6D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B8AF0-736C-8576-9AF7-522057DBF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22619-1C29-72B0-5085-6849DAF41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85A9D0-77DE-F036-FA63-CA852797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D8AD4-0250-048E-9E6E-A6888D57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F83A7-E585-CA32-DBD0-BED932A2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8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03C7-6DCD-71F2-B211-38AA1778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D6A63-C5C5-736A-B6D8-70F6BB9A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2D3D5-A20E-1FFC-C5CD-ADE7543F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CF071-C8CF-9D91-E9FC-B7CACBAF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38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A562F-E64B-F54B-5ADD-AB3FF874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E471E-5587-896D-A99A-E3A6D1AC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FDC4A-86C6-64C4-AC31-5F9FBCD6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2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C07D-7C73-E4A4-0ACD-2CFAF689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A5208-E173-DA1B-E229-865F984F2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384C0-83D8-2432-5BF1-6116393DC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20124-006D-2F39-67B3-FCBC0D59F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D3AA3-E7DD-6B12-7C71-8D9CFDD0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F6B37-D8A4-0C06-1002-15CF1E25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96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F3F0-EB32-F97B-F65A-1A30D103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4AC50-8716-EC5C-5933-F793286B3D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B01E5-C107-2643-CE1C-DFB34C895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DEA37-FA54-4BD4-96DC-D1A08593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52798-8EDE-D1E2-AA80-5D86B5E9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B34E2-39E9-4A1E-7AF4-3E24B10F3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85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5B9B-E953-CBFE-9CBA-767AD3A0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5C41C-0608-2B09-2AD0-1C21FBB8D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3A024-AF31-984F-3404-28B65F4C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097E6-B684-117E-D3D8-023B177C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66349-3B9B-5EB6-BAC4-857BF36C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13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10FA9-6DF5-640D-AE89-7CA39FBF2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6D43E-852F-8FCC-2CF7-2FEC1893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C51EA-4BDB-47F4-5A1D-813E17DB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7FAEB-371D-D998-EB61-4B9663E9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CB932-E037-663A-7F83-BACFCDFD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05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700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03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8E3E4-3674-3504-A128-6777D124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BBAA4-33E9-AEE8-AE22-515D76A61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0E6F8-7C47-BB48-7226-85F3DDB75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77CFC-97C4-436B-8C60-6F11D7A82CAA}" type="datetimeFigureOut">
              <a:rPr lang="en-IN" smtClean="0"/>
              <a:t>02-11-2026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EECA8-06E1-BA5F-8582-300EC1A2F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C0FDB-B150-09D6-CEA1-A3B1485C5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858E4-51B3-47C7-AB07-C6AB029AC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26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59" y="259690"/>
            <a:ext cx="822960" cy="82296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" y="473659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311249"/>
            <a:ext cx="9424035" cy="603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463039"/>
            <a:ext cx="10241280" cy="2057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Hallucination-Resistant RAG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Government Information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108959"/>
            <a:ext cx="8046720" cy="948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QA system that grounds every answer in official documents — and abstains rather than guesses.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19200" y="6384340"/>
            <a:ext cx="85726" cy="107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5BE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>
              <a:solidFill>
                <a:srgbClr val="5BEF6D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94E185-B97E-EC09-378A-4278659704AD}"/>
              </a:ext>
            </a:extLst>
          </p:cNvPr>
          <p:cNvSpPr/>
          <p:nvPr/>
        </p:nvSpPr>
        <p:spPr>
          <a:xfrm>
            <a:off x="8869680" y="4601871"/>
            <a:ext cx="2750819" cy="15919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Project Coordinator:</a:t>
            </a:r>
          </a:p>
          <a:p>
            <a:pPr algn="ctr"/>
            <a:r>
              <a:rPr lang="en-IN" sz="2000" b="1" dirty="0"/>
              <a:t>Dr. Ringki Das</a:t>
            </a:r>
            <a:endParaRPr lang="en-IN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8F6C40-A398-CBEC-6750-99778A02B02A}"/>
              </a:ext>
            </a:extLst>
          </p:cNvPr>
          <p:cNvSpPr/>
          <p:nvPr/>
        </p:nvSpPr>
        <p:spPr>
          <a:xfrm>
            <a:off x="1068705" y="4601871"/>
            <a:ext cx="2750819" cy="1562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DIVAN PARGI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24U020093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Bhopal</a:t>
            </a:r>
          </a:p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CSE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Hallucination?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LLM states something confidently and fluently — that is factually wrong or entirely made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predicts the statistically most likely next word based on patterns learned during training. It has no built-in fact-checker and no live connection to real documents — so when it doesn't truly "know" an answer, it still generates a fluent-sounding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9808" y="3703320"/>
            <a:ext cx="457200" cy="45720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4980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25196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facts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4709160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statistics, dates, or events that never happened.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3520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11880" y="3703320"/>
            <a:ext cx="457200" cy="45720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118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425196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citations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11880" y="4709160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plausible-looking book titles, authors, or paper links that don't exist.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72784" y="3520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73952" y="3703320"/>
            <a:ext cx="457200" cy="45720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73952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425196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knowledge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4709160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from a training cutoff, unaware of anything newer.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34856" y="3520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336024" y="3703320"/>
            <a:ext cx="457200" cy="45720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36024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6024" y="425196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confidence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36024" y="4709160"/>
            <a:ext cx="22951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Sounding equally certain whether the answer is right or wrong.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fetch real, relevant information first — then let the LLM write the answer from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24963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990088"/>
            <a:ext cx="17465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eligible for PM Awas Yojana?"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2331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926080" y="24963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44368" y="2990088"/>
            <a:ext cx="17465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vector database for the most relevant chunks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2331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212080" y="24963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 Chunks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30368" y="2990088"/>
            <a:ext cx="17465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text pulled from the official PDFs we processed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8660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06640" y="2331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98080" y="24963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Context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16368" y="2990088"/>
            <a:ext cx="17465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 the answer using only the retrieved text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7260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92640" y="23317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784080" y="249631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Answer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02368" y="2990088"/>
            <a:ext cx="17465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Factual, source-backed response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4F7F9"/>
          </a:solidFill>
          <a:ln w="12700">
            <a:solidFill>
              <a:srgbClr val="E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6868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956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only on what the model "memorized" during training, RAG injects real, up-to-date, and domain-specific text directly into the prompt — this is exactly what our pipeline (PDF → Elements → Cleaning → Chunking) prepares for the retriever.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040135"/>
          <a:ext cx="10972800" cy="3609975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1662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S. No.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Research Paper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Author(s)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Problem Addressed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62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RAGAs: Automated Evaluation of RAG [1]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Es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Sep 2023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Metrics for retrieval relevance and generation quality.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62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err="1">
                          <a:solidFill>
                            <a:srgbClr val="0F172A"/>
                          </a:solidFill>
                          <a:latin typeface="Inter"/>
                        </a:rPr>
                        <a:t>RAGTruth</a:t>
                      </a:r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Inter"/>
                        </a:rPr>
                        <a:t>: Hallucination Corpus [2]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Niu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2024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Annotated dataset for identifying hallucinations in RAG answers.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662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Benchmarking LLMs in RAG [3]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Chen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2024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Noise robustness, evidence rejection, and misinformation handling.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662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Dense Passage Retrieval (DPR) [4]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Karpukhin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Nov 2020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Dense retrieval to locate semantically relevant passages.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665">
                <a:tc>
                  <a:txBody>
                    <a:bodyPr/>
                    <a:lstStyle/>
                    <a:p>
                      <a:pPr algn="ctr"/>
                      <a:r>
                        <a:rPr sz="1125" b="1" i="0" u="none">
                          <a:solidFill>
                            <a:srgbClr val="0284C7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Inter"/>
                        </a:rPr>
                        <a:t>BGE-M3: Text Embeddings [5]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Chen et 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Feb 2024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Multilingual embeddings enabling fine-grained semantic retrieval.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1" name="Label 10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spc="20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LITERATURE SURVEY</a:t>
            </a:r>
          </a:p>
        </p:txBody>
      </p:sp>
      <p:sp>
        <p:nvSpPr>
          <p:cNvPr id="102" name="Title 102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Research Summary</a:t>
            </a:r>
          </a:p>
        </p:txBody>
      </p:sp>
      <p:sp>
        <p:nvSpPr>
          <p:cNvPr id="103" name="Subtitle 10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Key papers on retrieval, evaluation and hallucination in RAG.</a:t>
            </a:r>
          </a:p>
        </p:txBody>
      </p:sp>
      <p:sp>
        <p:nvSpPr>
          <p:cNvPr id="301" name="Page 30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b="0" i="0" dirty="0">
              <a:solidFill>
                <a:srgbClr val="5B6B76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7BBD-88C7-53F2-6076-D7E6BC14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spc="20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MOTIVATION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Problem Statement and Objectives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700000"/>
            <a:ext cx="4800000" cy="400000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00000" y="1850000"/>
            <a:ext cx="43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problem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0000" y="2400000"/>
            <a:ext cx="4300000" cy="3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Government schemes, scholarships and notifications are published as PDFs.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general LLM answers questions about them from memory — fluently, but it can invent eligibility rules, dates or amounts.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 PDFs are also hard to parse, so a naive pipeline feeds the model broken text.</a:t>
            </a: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wrong answer can cost a citizen a benefit or a deadline.</a:t>
            </a:r>
          </a:p>
        </p:txBody>
      </p:sp>
      <p:sp>
        <p:nvSpPr>
          <p:cNvPr id="8" name="Shape 8"/>
          <p:cNvSpPr/>
          <p:nvPr/>
        </p:nvSpPr>
        <p:spPr>
          <a:xfrm>
            <a:off x="5650000" y="1700000"/>
            <a:ext cx="5993360" cy="88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900000" y="191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5900000" y="1911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557200" y="1760000"/>
            <a:ext cx="493616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Minimise hallucination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Give factually correct answers on schemes — no invented rules, dates or amounts</a:t>
            </a:r>
          </a:p>
        </p:txBody>
      </p:sp>
      <p:sp>
        <p:nvSpPr>
          <p:cNvPr id="12" name="Shape 12"/>
          <p:cNvSpPr/>
          <p:nvPr/>
        </p:nvSpPr>
        <p:spPr>
          <a:xfrm>
            <a:off x="5650000" y="2740000"/>
            <a:ext cx="5993360" cy="88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900000" y="295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5900000" y="2951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557200" y="2800000"/>
            <a:ext cx="493616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Make every answer verifiable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Trace each answer to an official document, with file name and page</a:t>
            </a:r>
          </a:p>
        </p:txBody>
      </p:sp>
      <p:sp>
        <p:nvSpPr>
          <p:cNvPr id="16" name="Shape 16"/>
          <p:cNvSpPr/>
          <p:nvPr/>
        </p:nvSpPr>
        <p:spPr>
          <a:xfrm>
            <a:off x="5650000" y="3780000"/>
            <a:ext cx="5993360" cy="88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900000" y="399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5900000" y="3991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557200" y="3840000"/>
            <a:ext cx="493616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Know when not to answer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Say "information not found" when the documents lack the answer</a:t>
            </a:r>
          </a:p>
        </p:txBody>
      </p:sp>
      <p:sp>
        <p:nvSpPr>
          <p:cNvPr id="20" name="Shape 20"/>
          <p:cNvSpPr/>
          <p:nvPr/>
        </p:nvSpPr>
        <p:spPr>
          <a:xfrm>
            <a:off x="5650000" y="4820000"/>
            <a:ext cx="5993360" cy="88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5900000" y="5031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5900000" y="5031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557200" y="4880000"/>
            <a:ext cx="493616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Make official information accessible</a:t>
            </a:r>
          </a:p>
          <a:p>
            <a:pPr marL="0" indent="0" algn="l">
              <a:buNone/>
            </a:pPr>
            <a:r>
              <a:rPr lang="en-US" sz="12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Quick, reliable answers for citizens and students from complex PDFs</a:t>
            </a:r>
          </a:p>
        </p:txBody>
      </p:sp>
      <p:sp>
        <p:nvSpPr>
          <p:cNvPr id="301" name="Page 30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b="0" i="0" dirty="0">
              <a:solidFill>
                <a:srgbClr val="5B6B7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0547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 / FLOWCHART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DOCUMENT INGESTION</a:t>
            </a:r>
            <a:endParaRPr lang="en-US" sz="1300" dirty="0"/>
          </a:p>
        </p:txBody>
      </p:sp>
      <p:sp>
        <p:nvSpPr>
          <p:cNvPr id="6" name="flow box"/>
          <p:cNvSpPr/>
          <p:nvPr/>
        </p:nvSpPr>
        <p:spPr>
          <a:xfrm>
            <a:off x="54864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government PDFs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2240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0" name="flow box"/>
          <p:cNvSpPr/>
          <p:nvPr/>
        </p:nvSpPr>
        <p:spPr>
          <a:xfrm>
            <a:off x="2875788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5788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parsing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38628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paragraphs, tables, lists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4588" y="2240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4" name="flow box"/>
          <p:cNvSpPr/>
          <p:nvPr/>
        </p:nvSpPr>
        <p:spPr>
          <a:xfrm>
            <a:off x="5202936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2936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65776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Whitespace, bullets, broken 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31736" y="2240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18" name="flow box"/>
          <p:cNvSpPr/>
          <p:nvPr/>
        </p:nvSpPr>
        <p:spPr>
          <a:xfrm>
            <a:off x="7530084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0084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chunk_by_title()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92924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RAG-ready chunks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58884" y="2240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22" name="flow box"/>
          <p:cNvSpPr/>
          <p:nvPr/>
        </p:nvSpPr>
        <p:spPr>
          <a:xfrm>
            <a:off x="9857232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57232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store in Qdrant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720072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with file name and page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QUERY TIME</a:t>
            </a:r>
            <a:endParaRPr lang="en-US" sz="1300" dirty="0"/>
          </a:p>
        </p:txBody>
      </p:sp>
      <p:sp>
        <p:nvSpPr>
          <p:cNvPr id="26" name="flow box"/>
          <p:cNvSpPr/>
          <p:nvPr/>
        </p:nvSpPr>
        <p:spPr>
          <a:xfrm>
            <a:off x="548640" y="4069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069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5029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with the same model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77440" y="4526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0" name="flow box"/>
          <p:cNvSpPr/>
          <p:nvPr/>
        </p:nvSpPr>
        <p:spPr>
          <a:xfrm>
            <a:off x="2875788" y="4069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75788" y="4069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top-k retrieval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738628" y="5029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similar chunks fetched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4588" y="4526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4" name="flow box"/>
          <p:cNvSpPr/>
          <p:nvPr/>
        </p:nvSpPr>
        <p:spPr>
          <a:xfrm>
            <a:off x="5202936" y="4069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02936" y="4069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065776" y="5029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evidence first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31736" y="4526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38" name="flow box"/>
          <p:cNvSpPr/>
          <p:nvPr/>
        </p:nvSpPr>
        <p:spPr>
          <a:xfrm>
            <a:off x="7530084" y="4069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30084" y="4069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 to Gemini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392924" y="5029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context only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58884" y="4526280"/>
            <a:ext cx="452628" cy="0"/>
          </a:xfrm>
          <a:prstGeom prst="line">
            <a:avLst/>
          </a:prstGeom>
          <a:noFill/>
          <a:ln w="25400">
            <a:solidFill>
              <a:srgbClr val="5B6B76"/>
            </a:solidFill>
            <a:prstDash val="solid"/>
            <a:tailEnd type="triangle"/>
          </a:ln>
        </p:spPr>
      </p:sp>
      <p:sp>
        <p:nvSpPr>
          <p:cNvPr id="42" name="flow box"/>
          <p:cNvSpPr/>
          <p:nvPr/>
        </p:nvSpPr>
        <p:spPr>
          <a:xfrm>
            <a:off x="9857232" y="4069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57232" y="4069080"/>
            <a:ext cx="1783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cite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720072" y="5029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check, file and page</a:t>
            </a:r>
            <a:endParaRPr lang="en-US" sz="1200" dirty="0"/>
          </a:p>
        </p:txBody>
      </p:sp>
      <p:sp>
        <p:nvSpPr>
          <p:cNvPr id="45" name="output strip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solidFill>
            <a:srgbClr val="F4F7F9"/>
          </a:solidFill>
          <a:ln w="9525">
            <a:solidFill>
              <a:srgbClr val="E1E7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5852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with citations, or “Information not found in documents” when evidence is missing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6F69-979D-6AF9-5156-39ED7A14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spc="20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IMPLEMENTATION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Tech Stack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650000"/>
            <a:ext cx="3495040" cy="195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98640" y="1800000"/>
            <a:ext cx="29950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spc="15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PARSING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98640" y="2130000"/>
            <a:ext cx="299504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Unstructured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98640" y="2650000"/>
            <a:ext cx="299504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partition_pdf() and chunk_by_title() turn PDFs into clean chunks</a:t>
            </a:r>
          </a:p>
        </p:txBody>
      </p:sp>
      <p:sp>
        <p:nvSpPr>
          <p:cNvPr id="9" name="Shape 9"/>
          <p:cNvSpPr/>
          <p:nvPr/>
        </p:nvSpPr>
        <p:spPr>
          <a:xfrm>
            <a:off x="4348480" y="1650000"/>
            <a:ext cx="3495040" cy="195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 txBox="1"/>
          <p:nvPr/>
        </p:nvSpPr>
        <p:spPr>
          <a:xfrm>
            <a:off x="4598480" y="1800000"/>
            <a:ext cx="29950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spc="15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VECTOR DATABASE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98480" y="2130000"/>
            <a:ext cx="299504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Qdrant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598480" y="2650000"/>
            <a:ext cx="299504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Stores chunk vectors and metadata; serves top-k retrieval</a:t>
            </a:r>
          </a:p>
        </p:txBody>
      </p:sp>
      <p:sp>
        <p:nvSpPr>
          <p:cNvPr id="13" name="Shape 13"/>
          <p:cNvSpPr/>
          <p:nvPr/>
        </p:nvSpPr>
        <p:spPr>
          <a:xfrm>
            <a:off x="8148320" y="1650000"/>
            <a:ext cx="3495040" cy="195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398320" y="1800000"/>
            <a:ext cx="29950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spc="15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EMBEDDINGS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398320" y="2130000"/>
            <a:ext cx="299504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Dense vectors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398320" y="2650000"/>
            <a:ext cx="299504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One model encodes both chunks and queries (e.g., BGE-M3)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3800000"/>
            <a:ext cx="3495040" cy="195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798640" y="3950000"/>
            <a:ext cx="29950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spc="15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RE-RANKING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98640" y="4280000"/>
            <a:ext cx="299504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Relevance re-ranker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98640" y="4800000"/>
            <a:ext cx="299504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Reorders retrieved chunks so the best evidence comes first</a:t>
            </a:r>
          </a:p>
        </p:txBody>
      </p:sp>
      <p:sp>
        <p:nvSpPr>
          <p:cNvPr id="21" name="Shape 21"/>
          <p:cNvSpPr/>
          <p:nvPr/>
        </p:nvSpPr>
        <p:spPr>
          <a:xfrm>
            <a:off x="4348480" y="3800000"/>
            <a:ext cx="3495040" cy="195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4598480" y="3950000"/>
            <a:ext cx="29950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spc="15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LANGUAGE MODEL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98480" y="4280000"/>
            <a:ext cx="299504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Gemini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598480" y="4800000"/>
            <a:ext cx="299504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Writes the answer from the retrieved context only</a:t>
            </a:r>
          </a:p>
        </p:txBody>
      </p:sp>
      <p:sp>
        <p:nvSpPr>
          <p:cNvPr id="25" name="Shape 25"/>
          <p:cNvSpPr/>
          <p:nvPr/>
        </p:nvSpPr>
        <p:spPr>
          <a:xfrm>
            <a:off x="8148320" y="3800000"/>
            <a:ext cx="3495040" cy="195000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8398320" y="3950000"/>
            <a:ext cx="29950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spc="15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VERIFICATION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398320" y="4280000"/>
            <a:ext cx="299504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Faithfulness check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398320" y="4800000"/>
            <a:ext cx="299504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Checks the answer against context and attaches citations</a:t>
            </a:r>
          </a:p>
        </p:txBody>
      </p:sp>
      <p:sp>
        <p:nvSpPr>
          <p:cNvPr id="301" name="Page 30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b="0" i="0" dirty="0">
              <a:solidFill>
                <a:srgbClr val="5B6B7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050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CONTROL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hallucination is reduced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Check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real text from official documents.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9" name="Card"/>
          <p:cNvSpPr/>
          <p:nvPr/>
        </p:nvSpPr>
        <p:spPr>
          <a:xfrm>
            <a:off x="6172200" y="164592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heck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parsing and chunking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331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sections stay complete.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14" name="Card"/>
          <p:cNvSpPr/>
          <p:nvPr/>
        </p:nvSpPr>
        <p:spPr>
          <a:xfrm>
            <a:off x="548640" y="320040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Check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429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prompt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context, do not guess.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19" name="Card"/>
          <p:cNvSpPr/>
          <p:nvPr/>
        </p:nvSpPr>
        <p:spPr>
          <a:xfrm>
            <a:off x="6172200" y="320040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Check"/>
          <p:cNvSpPr/>
          <p:nvPr/>
        </p:nvSpPr>
        <p:spPr>
          <a:xfrm>
            <a:off x="6446520" y="36118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465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429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when missing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not there, say it is not available.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24" name="Card"/>
          <p:cNvSpPr/>
          <p:nvPr/>
        </p:nvSpPr>
        <p:spPr>
          <a:xfrm>
            <a:off x="548640" y="47548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Check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296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983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440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and page let the user verify the answer.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29" name="Card"/>
          <p:cNvSpPr/>
          <p:nvPr/>
        </p:nvSpPr>
        <p:spPr>
          <a:xfrm>
            <a:off x="6172200" y="47548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Check"/>
          <p:cNvSpPr/>
          <p:nvPr/>
        </p:nvSpPr>
        <p:spPr>
          <a:xfrm>
            <a:off x="6446520" y="51663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65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983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top-k chunks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440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text never reaches the model.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53035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arn"/>
          <p:cNvSpPr/>
          <p:nvPr/>
        </p:nvSpPr>
        <p:spPr>
          <a:xfrm>
            <a:off x="777240" y="2322576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7724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03120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can err on blurred or low-quality scans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3127248"/>
            <a:ext cx="53035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Warn"/>
          <p:cNvSpPr/>
          <p:nvPr/>
        </p:nvSpPr>
        <p:spPr>
          <a:xfrm>
            <a:off x="777240" y="3346704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2724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 depends on retrieved chunks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4151376"/>
            <a:ext cx="53035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Warn"/>
          <p:cNvSpPr/>
          <p:nvPr/>
        </p:nvSpPr>
        <p:spPr>
          <a:xfrm>
            <a:off x="777240" y="43708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7724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151376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uploaded documents are used, so new notifications must be added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548640" y="5175504"/>
            <a:ext cx="530352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Warn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772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75504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reduced, not removed completely</a:t>
            </a:r>
            <a:endParaRPr lang="en-US" sz="1500" dirty="0"/>
          </a:p>
        </p:txBody>
      </p:sp>
      <p:sp>
        <p:nvSpPr>
          <p:cNvPr id="21" name="FuturePanel"/>
          <p:cNvSpPr/>
          <p:nvPr/>
        </p:nvSpPr>
        <p:spPr>
          <a:xfrm>
            <a:off x="6217920" y="1540764"/>
            <a:ext cx="5394960" cy="4663440"/>
          </a:xfrm>
          <a:prstGeom prst="roundRect">
            <a:avLst>
              <a:gd name="adj" fmla="val 19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92240" y="17785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423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423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regional languages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154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(keyword + dense retrieval)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886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886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faithfulness evaluation on a test set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6177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of new notifications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349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349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for students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C6F69-979D-6AF9-5156-39ED7A14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bel 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spc="200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i="0" dirty="0">
                <a:solidFill>
                  <a:srgbClr val="1B1B1F"/>
                </a:solidFill>
                <a:latin typeface="Cambria"/>
                <a:ea typeface="Cambria"/>
                <a:cs typeface="Cambria"/>
              </a:rPr>
              <a:t>References</a:t>
            </a:r>
          </a:p>
        </p:txBody>
      </p:sp>
      <p:sp>
        <p:nvSpPr>
          <p:cNvPr id="5" name="Shape 5"/>
          <p:cNvSpPr/>
          <p:nvPr/>
        </p:nvSpPr>
        <p:spPr>
          <a:xfrm>
            <a:off x="548640" y="1550000"/>
            <a:ext cx="11094720" cy="78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800000" y="17100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800000" y="171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[1]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450000" y="1590000"/>
            <a:ext cx="10000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Es, S. et al. (2023). RAGAs: Automated Evaluation of Retrieval Augmented Generation. arXiv:2309.15217.</a:t>
            </a:r>
          </a:p>
        </p:txBody>
      </p:sp>
      <p:sp>
        <p:nvSpPr>
          <p:cNvPr id="9" name="Shape 9"/>
          <p:cNvSpPr/>
          <p:nvPr/>
        </p:nvSpPr>
        <p:spPr>
          <a:xfrm>
            <a:off x="548640" y="2450000"/>
            <a:ext cx="11094720" cy="78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800000" y="26100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00000" y="261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[2]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450000" y="2490000"/>
            <a:ext cx="10000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Niu, C. et al. (2024). RAGTruth: A Hallucination Corpus for Developing Trustworthy Retrieval-Augmented Language Models. ACL 2024.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" y="3350000"/>
            <a:ext cx="11094720" cy="78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00000" y="35100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800000" y="351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[3]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450000" y="3390000"/>
            <a:ext cx="10000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Chen, J. et al. (2024). Benchmarking Large Language Models in Retrieval-Augmented Generation. AAAI 2024.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4250000"/>
            <a:ext cx="11094720" cy="78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00000" y="44100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800000" y="441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[4]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450000" y="4290000"/>
            <a:ext cx="10000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Karpukhin, V. et al. (2020). Dense Passage Retrieval for Open-Domain Question Answering. EMNLP 2020.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5150000"/>
            <a:ext cx="11094720" cy="780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800000" y="5310000"/>
            <a:ext cx="460000" cy="46000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800000" y="531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[5]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450000" y="5190000"/>
            <a:ext cx="100000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0" i="0" dirty="0">
                <a:solidFill>
                  <a:srgbClr val="1B1B1F"/>
                </a:solidFill>
                <a:latin typeface="Calibri"/>
                <a:ea typeface="Calibri"/>
                <a:cs typeface="Calibri"/>
              </a:rPr>
              <a:t>Chen, J. et al. (2024). BGE M3-Embedding: Multi-Lingual, Multi-Functionality, Multi-Granularity Text Embeddings Through Self-Knowledge Distillation. arXiv:2402.03216.</a:t>
            </a:r>
          </a:p>
        </p:txBody>
      </p:sp>
      <p:sp>
        <p:nvSpPr>
          <p:cNvPr id="301" name="Page 301"/>
          <p:cNvSpPr txBox="1"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b="0" i="0" dirty="0">
              <a:solidFill>
                <a:srgbClr val="5B6B7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7082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23565-486E-DB79-5C3C-F8E8578E8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1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1104</Words>
  <Application>Microsoft Office PowerPoint</Application>
  <PresentationFormat>Widescreen</PresentationFormat>
  <Paragraphs>207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hallucination is reduced</vt:lpstr>
      <vt:lpstr>Limitations and future scope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divan p</dc:creator>
  <cp:lastModifiedBy>divan p</cp:lastModifiedBy>
  <cp:revision>1</cp:revision>
  <dcterms:created xsi:type="dcterms:W3CDTF">2026-11-01T16:53:05Z</dcterms:created>
  <dcterms:modified xsi:type="dcterms:W3CDTF">2026-11-01T19:03:31Z</dcterms:modified>
</cp:coreProperties>
</file>